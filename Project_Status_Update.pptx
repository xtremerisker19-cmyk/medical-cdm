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TABLES</c:v>
                </c:pt>
                <c:pt idx="1">
                  <c:v>SQL SERVER</c:v>
                </c:pt>
                <c:pt idx="2">
                  <c:v>EXCEL</c:v>
                </c:pt>
                <c:pt idx="3">
                  <c:v>BW</c:v>
                </c:pt>
                <c:pt idx="4">
                  <c:v>POWER BI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162</c:v>
                </c:pt>
                <c:pt idx="1">
                  <c:v>3</c:v>
                </c:pt>
                <c:pt idx="2">
                  <c:v>28</c:v>
                </c:pt>
                <c:pt idx="3">
                  <c:v>30</c:v>
                </c:pt>
                <c:pt idx="4">
                  <c:v>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IB</c:v>
                </c:pt>
                <c:pt idx="1">
                  <c:v>TRADE</c:v>
                </c:pt>
                <c:pt idx="2">
                  <c:v>MDSPL SALES</c:v>
                </c:pt>
                <c:pt idx="3">
                  <c:v>SECONDARY SALES</c:v>
                </c:pt>
                <c:pt idx="4">
                  <c:v>JOINT CALL</c:v>
                </c:pt>
                <c:pt idx="5">
                  <c:v>IMS TOP 50</c:v>
                </c:pt>
                <c:pt idx="6">
                  <c:v>IMS FIR</c:v>
                </c:pt>
                <c:pt idx="7">
                  <c:v>SFE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</c:v>
                </c:pt>
                <c:pt idx="1">
                  <c:v>17</c:v>
                </c:pt>
                <c:pt idx="2">
                  <c:v>14</c:v>
                </c:pt>
                <c:pt idx="3">
                  <c:v>12</c:v>
                </c:pt>
                <c:pt idx="4">
                  <c:v>7</c:v>
                </c:pt>
                <c:pt idx="5">
                  <c:v>7</c:v>
                </c:pt>
                <c:pt idx="6">
                  <c:v>5</c:v>
                </c:pt>
                <c:pt idx="7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Material</c:v>
                </c:pt>
                <c:pt idx="1">
                  <c:v>Sales Team</c:v>
                </c:pt>
                <c:pt idx="2">
                  <c:v>Product</c:v>
                </c:pt>
                <c:pt idx="3">
                  <c:v>Sales Team/Person</c:v>
                </c:pt>
                <c:pt idx="4">
                  <c:v>Distributor/Person</c:v>
                </c:pt>
                <c:pt idx="5">
                  <c:v>Sales</c:v>
                </c:pt>
                <c:pt idx="6">
                  <c:v>Product/BU</c:v>
                </c:pt>
                <c:pt idx="7">
                  <c:v>?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55</c:v>
                </c:pt>
                <c:pt idx="1">
                  <c:v>46</c:v>
                </c:pt>
                <c:pt idx="2">
                  <c:v>30</c:v>
                </c:pt>
                <c:pt idx="3">
                  <c:v>26</c:v>
                </c:pt>
                <c:pt idx="4">
                  <c:v>12</c:v>
                </c:pt>
                <c:pt idx="5">
                  <c:v>8</c:v>
                </c:pt>
                <c:pt idx="6">
                  <c:v>8</c:v>
                </c:pt>
                <c:pt idx="7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1F3864"/>
                </a:solidFill>
              </a:defRPr>
            </a:pPr>
            <a:r>
              <a:t>Project Status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44546A"/>
                </a:solidFill>
              </a:defRPr>
            </a:pPr>
            <a:r>
              <a:t>Data inventory snapshot generated from classification workbook</a:t>
            </a:r>
          </a:p>
          <a:p>
            <a:pPr>
              <a:defRPr sz="1800">
                <a:solidFill>
                  <a:srgbClr val="44546A"/>
                </a:solidFill>
              </a:defRPr>
            </a:pPr>
            <a:r>
              <a:t>As of 2026-04-21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3864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Total inventoried objects: 248 across 5 source layers.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Largest source layer: TABLES (162 objects).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Dashboard footprint: 10 dashboards, top is IB (18 objects).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Category coverage: 24 categories, top is Material (55 objects).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Data quality watchpoints: 100 unknown markers and 269 blank cells.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864"/>
                </a:solidFill>
              </a:defRPr>
            </a:pPr>
            <a:r>
              <a:t>Inventory by Source Layer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6070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864"/>
                </a:solidFill>
              </a:defRPr>
            </a:pPr>
            <a:r>
              <a:t>Top Dashboard Coverage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6070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864"/>
                </a:solidFill>
              </a:defRPr>
            </a:pPr>
            <a:r>
              <a:t>Top Category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6070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864"/>
                </a:solidFill>
              </a:defRPr>
            </a:pPr>
            <a:r>
              <a:t>Actor Classification Snapshot (TABLES sheet)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Actor Classification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Sales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Dealership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Pharmacies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Doctors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Regional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3864"/>
                </a:solidFill>
              </a:defRPr>
            </a:pPr>
            <a:r>
              <a:t>Recommended 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Standardize unknown labels (for example '?', 'nothing found') with controlled vocabulary.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Fill blank metadata fields for table description and ownership before governance sign-off.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Prioritize remediation for high-usage dashboards: TRADE, SECONDARY SALES, JOINT CALL.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Define monthly refresh checks to keep source and dashboard mappings current.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